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금액</c:v>
                </c:pt>
              </c:strCache>
            </c:strRef>
          </c:tx>
          <c:spPr>
            <a:solidFill>
              <a:srgbClr val="A9B4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C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4E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23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납입 누계</c:v>
                  </c:pt>
                  <c:pt idx="1">
                    <c:v>해지환급금</c:v>
                  </c:pt>
                  <c:pt idx="2">
                    <c:v>법인세 절감</c:v>
                  </c:pt>
                  <c:pt idx="3">
                    <c:v>실질 회수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9</c:v>
                </c:pt>
                <c:pt idx="2">
                  <c:v>2.09</c:v>
                </c:pt>
                <c:pt idx="3">
                  <c:v>11.09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C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16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경영인 정기보험을 활용한 법인 비용처리 및 목돈마련 전략 제안 - TS자산관리센터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현실 3가지(비용부족/고율 소득세/CEO 리스크) → 경영인 정기보험 3대 효과(비용처리·목돈마련·CEO보장)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 1억 10년 납입 시뮬레이션과 재직중/퇴직/유고 3단계 회수 전략, 그리고 실행 2단계 CTA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solidFill>
            <a:srgbClr val="1B3D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926080" cy="2926080"/>
          </a:xfrm>
          <a:prstGeom prst="ellipse">
            <a:avLst/>
          </a:prstGeom>
          <a:solidFill>
            <a:srgbClr val="2B4E7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6583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TAX BRIEF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664208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쌓이는 이익, 사라지는 세금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E8D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대표님의 목돈으로 바꾸는 법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93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경영인 정기보험을 활용한 법인 비용처리 · 목돈마련 전략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315968"/>
            <a:ext cx="3035808" cy="914400"/>
          </a:xfrm>
          <a:prstGeom prst="roundRect">
            <a:avLst>
              <a:gd name="adj" fmla="val 8000"/>
            </a:avLst>
          </a:prstGeom>
          <a:solidFill>
            <a:srgbClr val="1B3D6B">
              <a:alpha val="75000"/>
            </a:srgbClr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0704" y="45902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0704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455371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납입보험료 비용처리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33088" y="4315968"/>
            <a:ext cx="3035808" cy="914400"/>
          </a:xfrm>
          <a:prstGeom prst="roundRect">
            <a:avLst>
              <a:gd name="adj" fmla="val 8000"/>
            </a:avLst>
          </a:prstGeom>
          <a:solidFill>
            <a:srgbClr val="1B3D6B">
              <a:alpha val="75000"/>
            </a:srgbClr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45902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70832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455371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 최대 26.4% 절감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43216" y="4315968"/>
            <a:ext cx="3035808" cy="914400"/>
          </a:xfrm>
          <a:prstGeom prst="roundRect">
            <a:avLst>
              <a:gd name="adj" fmla="val 8000"/>
            </a:avLst>
          </a:prstGeom>
          <a:solidFill>
            <a:srgbClr val="1B3D6B">
              <a:alpha val="75000"/>
            </a:srgbClr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0" y="45902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455371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퇴직금 · 유고 재원 확보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70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작성기관 : TS자산관리센터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181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D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CEO를 위한 절세 · 자산관리 컨설팅   |   2026.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이익은 남는데, 쓸 방법이 없습니다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대표님 회사의 세 가지 현실, 그리고 한 장의 계약으로 푸는 해법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15910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대표님의 현실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E9ED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2219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현금은 쌓이는데, 넣을 비용이 없다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53288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이익잉여금이 늘수록 법인세도, 주식가치(상속·증여세)도 함께 올라갑니다.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E9EDF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31927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 · 상여 · 배당으로 빼면 최고 49.5%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63016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어렵게 남긴 이익의 절반이 개인 소득세로 사라집니다.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074920" cy="932688"/>
          </a:xfrm>
          <a:prstGeom prst="roundRect">
            <a:avLst>
              <a:gd name="adj" fmla="val 5882"/>
            </a:avLst>
          </a:prstGeom>
          <a:solidFill>
            <a:srgbClr val="E9ED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441655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유고 = 회사의 존폐 위기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72744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상환, 가지급금, 유족 보상까지 모두 회사가 떠안습니다.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1600200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15910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경영인 정기보험 한 장으로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46520" y="2103120"/>
            <a:ext cx="51023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3408" y="2377440"/>
            <a:ext cx="384048" cy="384048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9340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203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비용처리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4963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납입보험료를 손금으로 처리해 과세표준을 즉시 낮춥니다.  연 1억 납입 시 법인세 약 2,090만 원 절감.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3200400"/>
            <a:ext cx="51023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93408" y="3474720"/>
            <a:ext cx="384048" cy="384048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9340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300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목돈마련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5935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해지환급금이 회사의 자산으로 쌓입니다.  퇴직금 · 투자 · 비상자금 재원으로 활용.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4297680"/>
            <a:ext cx="510235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93408" y="4572000"/>
            <a:ext cx="384048" cy="384048"/>
          </a:xfrm>
          <a:prstGeom prst="ellipse">
            <a:avLst/>
          </a:prstGeom>
          <a:solidFill>
            <a:srgbClr val="0E234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93408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398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보장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46908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유고 시 사망보험금이 법인으로 지급되어 대출 상환과 경영권을 지킵니다.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9722"/>
            </a:avLst>
          </a:prstGeom>
          <a:solidFill>
            <a:srgbClr val="0E234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54864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비용처리 · 목돈마련 · CEO보장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세 가지를 한 계약으로 동시에 해결합니다.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62727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만기환급금이 없는 보장성보험의 기간경과분 보험료 기준(법인세법 시행령 제19조 제9호). 계약 구조에 따라 해지환급금 상당액의 자산계상 여부가 달라질 수 있어 가입 전 검토가 필요합니다.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1억 원 납입, 10년 뒤의 숫자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낸 돈보다 더 많이 돌아옵니다. 10년간의 대표이사 보장은 덤입니다.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742432" cy="3584448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007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 대비 회수 재원 (단위 : 억 원)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029968"/>
          <a:ext cx="5468112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914400" y="44988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10억 납입  →  11.09억 회수</a:t>
            </a:r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순증 +1.09억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693408" y="15361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전략 3단계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693408" y="1993392"/>
            <a:ext cx="48554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31152" y="225856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3115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61504" y="2084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 </a:t>
            </a:r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재직 중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461504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해지환급금은 회사의 유동자산. 자금이 필요하면 계약대출로 즉시 활용합니다.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93408" y="3044952"/>
            <a:ext cx="48554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31152" y="331012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31152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461504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 </a:t>
            </a:r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 시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461504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대표 개인 명의로 이전해 퇴직금으로 지급. 퇴직소득 분류과세로 세부담을 크게 낮춥니다.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693408" y="4096512"/>
            <a:ext cx="48554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E234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931152" y="43616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93115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 </a:t>
            </a:r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유고 시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461504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661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사망보험금이 법인에 지급되어 유족 보상 · 대출 상환 · 가업승계 재원이 됩니다.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5230368"/>
            <a:ext cx="10908792" cy="859536"/>
          </a:xfrm>
          <a:prstGeom prst="roundRect">
            <a:avLst>
              <a:gd name="adj" fmla="val 7447"/>
            </a:avLst>
          </a:prstGeom>
          <a:solidFill>
            <a:srgbClr val="0E234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4400" y="5358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필요한 것은 단 두 가지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65099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정관 · 임원 퇴직금 지급규정 정비    ② 회사 이익 규모에 맞는 적정 납입액 산정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54681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D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TS자산관리센터  |  법인 절세 무료 진단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61996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9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예시 : 연 1억 원 10년 납입 가정. 법인세 절감액은 과세표준 2억~200억 원 구간(지방소득세 포함 20.9%) 기준. 해지환급금 90%는 예시이며 실제 환급률·보장금액은 보험사·상품·피보험자 조건에 따라 달라집니다.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TS자산관리센터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경영인 정기보험 활용 법인 비용처리·목돈마련 전략</dc:title>
  <dc:subject>PptxGenJS Presentation</dc:subject>
  <dc:creator>TS자산관리센터</dc:creator>
  <cp:lastModifiedBy>TS자산관리센터</cp:lastModifiedBy>
  <cp:revision>1</cp:revision>
  <dcterms:created xsi:type="dcterms:W3CDTF">2026-08-26T03:18:46Z</dcterms:created>
  <dcterms:modified xsi:type="dcterms:W3CDTF">2026-08-26T03:18:46Z</dcterms:modified>
</cp:coreProperties>
</file>